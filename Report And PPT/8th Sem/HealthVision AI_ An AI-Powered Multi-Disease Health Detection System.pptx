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6256000" cy="9144000"/>
  <p:notesSz cx="9144000" cy="16256000"/>
  <p:embeddedFontLst>
    <p:embeddedFont>
      <p:font typeface="Quattrocento Sans" charset="-122" pitchFamily="34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B5E5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Jaundice (Eye)</c:v>
                  </c:pt>
                  <c:pt idx="1">
                    <c:v>Face / Skin</c:v>
                  </c:pt>
                  <c:pt idx="2">
                    <c:v>Nail Disease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90.62</c:v>
                </c:pt>
                <c:pt idx="1">
                  <c:v>72.15</c:v>
                </c:pt>
                <c:pt idx="2">
                  <c:v>85.71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0e0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healthvision-ai-1enh.onrender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auravssah/HealthVision-AI" TargetMode="External"/><Relationship Id="rId2" Type="http://schemas.openxmlformats.org/officeDocument/2006/relationships/hyperlink" Target="https://healthvision-ai-1enh.onrender.co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778000"/>
            <a:ext cx="8890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HealthVision AI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3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AI-Powered Multi-Disease Health Detection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4318000"/>
            <a:ext cx="15240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508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B.Tech Final Year Project Presentation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5016500"/>
            <a:ext cx="762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Submitted by: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Gaurav Kumar (23151144901) | Nitesh Kumar (22151144040)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Rupesh Kumar (22151144010) | Indrajeet Kumar (23151144906)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Supervisor: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Dr. Saurabh Suman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of CSE (AI), Government Engineering College, Munger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Bihar Engineering University, Patna | May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7874000"/>
            <a:ext cx="2540000" cy="4572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7874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CSE (AI) | 8th Semester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430000" y="1016000"/>
            <a:ext cx="4064000" cy="7112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0" name="Shape 8"/>
          <p:cNvSpPr/>
          <p:nvPr/>
        </p:nvSpPr>
        <p:spPr>
          <a:xfrm>
            <a:off x="12890500" y="3048000"/>
            <a:ext cx="1143000" cy="1016000"/>
          </a:xfrm>
          <a:custGeom>
            <a:avLst/>
            <a:gdLst/>
            <a:ahLst/>
            <a:cxnLst/>
            <a:rect l="l" t="t" r="r" b="b"/>
            <a:pathLst>
              <a:path w="1143000" h="1016000">
                <a:moveTo>
                  <a:pt x="571500" y="63500"/>
                </a:moveTo>
                <a:cubicBezTo>
                  <a:pt x="411163" y="63500"/>
                  <a:pt x="282773" y="136525"/>
                  <a:pt x="189309" y="223441"/>
                </a:cubicBezTo>
                <a:cubicBezTo>
                  <a:pt x="96441" y="309761"/>
                  <a:pt x="34330" y="412750"/>
                  <a:pt x="4763" y="483592"/>
                </a:cubicBezTo>
                <a:cubicBezTo>
                  <a:pt x="-1786" y="499269"/>
                  <a:pt x="-1786" y="516731"/>
                  <a:pt x="4763" y="532408"/>
                </a:cubicBezTo>
                <a:cubicBezTo>
                  <a:pt x="34330" y="603250"/>
                  <a:pt x="96441" y="706438"/>
                  <a:pt x="189309" y="792559"/>
                </a:cubicBezTo>
                <a:cubicBezTo>
                  <a:pt x="282773" y="879277"/>
                  <a:pt x="411163" y="952500"/>
                  <a:pt x="571500" y="952500"/>
                </a:cubicBezTo>
                <a:cubicBezTo>
                  <a:pt x="731838" y="952500"/>
                  <a:pt x="860227" y="879475"/>
                  <a:pt x="953691" y="792559"/>
                </a:cubicBezTo>
                <a:cubicBezTo>
                  <a:pt x="1046559" y="706239"/>
                  <a:pt x="1108670" y="603250"/>
                  <a:pt x="1138238" y="532408"/>
                </a:cubicBezTo>
                <a:cubicBezTo>
                  <a:pt x="1144786" y="516731"/>
                  <a:pt x="1144786" y="499269"/>
                  <a:pt x="1138238" y="483592"/>
                </a:cubicBezTo>
                <a:cubicBezTo>
                  <a:pt x="1108670" y="412750"/>
                  <a:pt x="1046559" y="309562"/>
                  <a:pt x="953691" y="223441"/>
                </a:cubicBezTo>
                <a:cubicBezTo>
                  <a:pt x="860227" y="136723"/>
                  <a:pt x="731838" y="63500"/>
                  <a:pt x="571500" y="63500"/>
                </a:cubicBezTo>
                <a:close/>
                <a:moveTo>
                  <a:pt x="285750" y="508000"/>
                </a:moveTo>
                <a:cubicBezTo>
                  <a:pt x="285750" y="350290"/>
                  <a:pt x="413790" y="222250"/>
                  <a:pt x="571500" y="222250"/>
                </a:cubicBezTo>
                <a:cubicBezTo>
                  <a:pt x="729210" y="222250"/>
                  <a:pt x="857250" y="350290"/>
                  <a:pt x="857250" y="508000"/>
                </a:cubicBezTo>
                <a:cubicBezTo>
                  <a:pt x="857250" y="665710"/>
                  <a:pt x="729210" y="793750"/>
                  <a:pt x="571500" y="793750"/>
                </a:cubicBezTo>
                <a:cubicBezTo>
                  <a:pt x="413790" y="793750"/>
                  <a:pt x="285750" y="665710"/>
                  <a:pt x="285750" y="508000"/>
                </a:cubicBezTo>
                <a:close/>
                <a:moveTo>
                  <a:pt x="571500" y="381000"/>
                </a:moveTo>
                <a:cubicBezTo>
                  <a:pt x="571500" y="451048"/>
                  <a:pt x="514548" y="508000"/>
                  <a:pt x="444500" y="508000"/>
                </a:cubicBezTo>
                <a:cubicBezTo>
                  <a:pt x="421680" y="508000"/>
                  <a:pt x="400248" y="502047"/>
                  <a:pt x="381595" y="491331"/>
                </a:cubicBezTo>
                <a:cubicBezTo>
                  <a:pt x="379611" y="512961"/>
                  <a:pt x="381397" y="535186"/>
                  <a:pt x="387350" y="557213"/>
                </a:cubicBezTo>
                <a:cubicBezTo>
                  <a:pt x="414536" y="658813"/>
                  <a:pt x="519113" y="719137"/>
                  <a:pt x="620713" y="691952"/>
                </a:cubicBezTo>
                <a:cubicBezTo>
                  <a:pt x="722313" y="664766"/>
                  <a:pt x="782638" y="560189"/>
                  <a:pt x="755452" y="458589"/>
                </a:cubicBezTo>
                <a:cubicBezTo>
                  <a:pt x="731242" y="367903"/>
                  <a:pt x="645319" y="310158"/>
                  <a:pt x="554831" y="318095"/>
                </a:cubicBezTo>
                <a:cubicBezTo>
                  <a:pt x="565348" y="336550"/>
                  <a:pt x="571500" y="357981"/>
                  <a:pt x="571500" y="381000"/>
                </a:cubicBezTo>
                <a:close/>
              </a:path>
            </a:pathLst>
          </a:custGeom>
          <a:solidFill>
            <a:srgbClr val="FFFFFF">
              <a:alpha val="2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0" y="4572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214114"/>
                </a:moveTo>
                <a:lnTo>
                  <a:pt x="478234" y="172839"/>
                </a:lnTo>
                <a:cubicBezTo>
                  <a:pt x="428625" y="104180"/>
                  <a:pt x="349052" y="63500"/>
                  <a:pt x="264120" y="63500"/>
                </a:cubicBezTo>
                <a:cubicBezTo>
                  <a:pt x="118269" y="63500"/>
                  <a:pt x="0" y="181769"/>
                  <a:pt x="0" y="327620"/>
                </a:cubicBezTo>
                <a:lnTo>
                  <a:pt x="0" y="332780"/>
                </a:lnTo>
                <a:cubicBezTo>
                  <a:pt x="0" y="379611"/>
                  <a:pt x="12303" y="428030"/>
                  <a:pt x="32941" y="476250"/>
                </a:cubicBezTo>
                <a:lnTo>
                  <a:pt x="243284" y="476250"/>
                </a:lnTo>
                <a:cubicBezTo>
                  <a:pt x="249634" y="476250"/>
                  <a:pt x="255389" y="472480"/>
                  <a:pt x="257969" y="466527"/>
                </a:cubicBezTo>
                <a:lnTo>
                  <a:pt x="321072" y="315119"/>
                </a:lnTo>
                <a:cubicBezTo>
                  <a:pt x="328414" y="297656"/>
                  <a:pt x="345480" y="286147"/>
                  <a:pt x="364331" y="285750"/>
                </a:cubicBezTo>
                <a:cubicBezTo>
                  <a:pt x="383183" y="285353"/>
                  <a:pt x="400645" y="296466"/>
                  <a:pt x="408384" y="313730"/>
                </a:cubicBezTo>
                <a:lnTo>
                  <a:pt x="510183" y="539750"/>
                </a:lnTo>
                <a:lnTo>
                  <a:pt x="592336" y="375444"/>
                </a:lnTo>
                <a:cubicBezTo>
                  <a:pt x="600472" y="359370"/>
                  <a:pt x="616942" y="349052"/>
                  <a:pt x="635000" y="349052"/>
                </a:cubicBezTo>
                <a:cubicBezTo>
                  <a:pt x="653058" y="349052"/>
                  <a:pt x="669528" y="359172"/>
                  <a:pt x="677664" y="375444"/>
                </a:cubicBezTo>
                <a:lnTo>
                  <a:pt x="723702" y="467320"/>
                </a:lnTo>
                <a:cubicBezTo>
                  <a:pt x="726480" y="472678"/>
                  <a:pt x="731838" y="476052"/>
                  <a:pt x="737989" y="476052"/>
                </a:cubicBezTo>
                <a:lnTo>
                  <a:pt x="983258" y="476052"/>
                </a:lnTo>
                <a:cubicBezTo>
                  <a:pt x="1004094" y="427831"/>
                  <a:pt x="1016198" y="379413"/>
                  <a:pt x="1016198" y="332581"/>
                </a:cubicBezTo>
                <a:lnTo>
                  <a:pt x="1016198" y="327422"/>
                </a:lnTo>
                <a:cubicBezTo>
                  <a:pt x="1016000" y="181769"/>
                  <a:pt x="897731" y="63500"/>
                  <a:pt x="751880" y="63500"/>
                </a:cubicBezTo>
                <a:cubicBezTo>
                  <a:pt x="667147" y="63500"/>
                  <a:pt x="587375" y="104180"/>
                  <a:pt x="537766" y="172839"/>
                </a:cubicBezTo>
                <a:lnTo>
                  <a:pt x="508000" y="213916"/>
                </a:lnTo>
                <a:close/>
                <a:moveTo>
                  <a:pt x="931863" y="571500"/>
                </a:moveTo>
                <a:lnTo>
                  <a:pt x="737791" y="571500"/>
                </a:lnTo>
                <a:cubicBezTo>
                  <a:pt x="695722" y="571500"/>
                  <a:pt x="657225" y="547688"/>
                  <a:pt x="638373" y="509984"/>
                </a:cubicBezTo>
                <a:lnTo>
                  <a:pt x="635000" y="503238"/>
                </a:lnTo>
                <a:lnTo>
                  <a:pt x="550664" y="672108"/>
                </a:lnTo>
                <a:cubicBezTo>
                  <a:pt x="542528" y="688578"/>
                  <a:pt x="525463" y="698897"/>
                  <a:pt x="507008" y="698500"/>
                </a:cubicBezTo>
                <a:cubicBezTo>
                  <a:pt x="488553" y="698103"/>
                  <a:pt x="472083" y="687189"/>
                  <a:pt x="464542" y="670520"/>
                </a:cubicBezTo>
                <a:lnTo>
                  <a:pt x="366713" y="453231"/>
                </a:lnTo>
                <a:lnTo>
                  <a:pt x="345877" y="503237"/>
                </a:lnTo>
                <a:cubicBezTo>
                  <a:pt x="328613" y="544711"/>
                  <a:pt x="288131" y="571698"/>
                  <a:pt x="243284" y="571698"/>
                </a:cubicBezTo>
                <a:lnTo>
                  <a:pt x="84138" y="571698"/>
                </a:lnTo>
                <a:cubicBezTo>
                  <a:pt x="177800" y="718145"/>
                  <a:pt x="328216" y="852884"/>
                  <a:pt x="422275" y="924719"/>
                </a:cubicBezTo>
                <a:cubicBezTo>
                  <a:pt x="446881" y="943372"/>
                  <a:pt x="477044" y="952698"/>
                  <a:pt x="507802" y="952698"/>
                </a:cubicBezTo>
                <a:cubicBezTo>
                  <a:pt x="538559" y="952698"/>
                  <a:pt x="568920" y="943570"/>
                  <a:pt x="593328" y="924719"/>
                </a:cubicBezTo>
                <a:cubicBezTo>
                  <a:pt x="687784" y="852686"/>
                  <a:pt x="838200" y="717947"/>
                  <a:pt x="931863" y="571500"/>
                </a:cubicBezTo>
                <a:close/>
              </a:path>
            </a:pathLst>
          </a:custGeom>
          <a:solidFill>
            <a:srgbClr val="FFFFFF">
              <a:alpha val="2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954000" y="6096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349250" y="0"/>
                </a:moveTo>
                <a:cubicBezTo>
                  <a:pt x="296664" y="0"/>
                  <a:pt x="254000" y="42664"/>
                  <a:pt x="254000" y="95250"/>
                </a:cubicBezTo>
                <a:lnTo>
                  <a:pt x="254000" y="508000"/>
                </a:lnTo>
                <a:cubicBezTo>
                  <a:pt x="254000" y="560586"/>
                  <a:pt x="296664" y="603250"/>
                  <a:pt x="349250" y="603250"/>
                </a:cubicBezTo>
                <a:lnTo>
                  <a:pt x="476250" y="603250"/>
                </a:lnTo>
                <a:cubicBezTo>
                  <a:pt x="528836" y="603250"/>
                  <a:pt x="571500" y="560586"/>
                  <a:pt x="571500" y="508000"/>
                </a:cubicBezTo>
                <a:lnTo>
                  <a:pt x="571500" y="381000"/>
                </a:lnTo>
                <a:lnTo>
                  <a:pt x="635000" y="381000"/>
                </a:lnTo>
                <a:cubicBezTo>
                  <a:pt x="775295" y="381000"/>
                  <a:pt x="889000" y="494705"/>
                  <a:pt x="889000" y="635000"/>
                </a:cubicBezTo>
                <a:cubicBezTo>
                  <a:pt x="889000" y="775295"/>
                  <a:pt x="775295" y="889000"/>
                  <a:pt x="635000" y="889000"/>
                </a:cubicBezTo>
                <a:lnTo>
                  <a:pt x="63500" y="889000"/>
                </a:lnTo>
                <a:cubicBezTo>
                  <a:pt x="28377" y="889000"/>
                  <a:pt x="0" y="917377"/>
                  <a:pt x="0" y="952500"/>
                </a:cubicBezTo>
                <a:cubicBezTo>
                  <a:pt x="0" y="987623"/>
                  <a:pt x="28377" y="1016000"/>
                  <a:pt x="63500" y="1016000"/>
                </a:cubicBezTo>
                <a:lnTo>
                  <a:pt x="952500" y="1016000"/>
                </a:lnTo>
                <a:cubicBezTo>
                  <a:pt x="987623" y="1016000"/>
                  <a:pt x="1016000" y="987623"/>
                  <a:pt x="1016000" y="952500"/>
                </a:cubicBezTo>
                <a:cubicBezTo>
                  <a:pt x="1016000" y="917377"/>
                  <a:pt x="987623" y="889000"/>
                  <a:pt x="952500" y="889000"/>
                </a:cubicBezTo>
                <a:lnTo>
                  <a:pt x="918964" y="889000"/>
                </a:lnTo>
                <a:cubicBezTo>
                  <a:pt x="979289" y="821531"/>
                  <a:pt x="1016000" y="732631"/>
                  <a:pt x="1016000" y="635000"/>
                </a:cubicBezTo>
                <a:cubicBezTo>
                  <a:pt x="1016000" y="424656"/>
                  <a:pt x="845344" y="254000"/>
                  <a:pt x="635000" y="254000"/>
                </a:cubicBezTo>
                <a:lnTo>
                  <a:pt x="571500" y="254000"/>
                </a:lnTo>
                <a:lnTo>
                  <a:pt x="571500" y="95250"/>
                </a:lnTo>
                <a:cubicBezTo>
                  <a:pt x="571500" y="42664"/>
                  <a:pt x="528836" y="0"/>
                  <a:pt x="476250" y="0"/>
                </a:cubicBezTo>
                <a:lnTo>
                  <a:pt x="349250" y="0"/>
                </a:lnTo>
                <a:close/>
                <a:moveTo>
                  <a:pt x="238125" y="698500"/>
                </a:moveTo>
                <a:cubicBezTo>
                  <a:pt x="211733" y="698500"/>
                  <a:pt x="190500" y="719733"/>
                  <a:pt x="190500" y="746125"/>
                </a:cubicBezTo>
                <a:cubicBezTo>
                  <a:pt x="190500" y="772517"/>
                  <a:pt x="211733" y="793750"/>
                  <a:pt x="238125" y="793750"/>
                </a:cubicBezTo>
                <a:lnTo>
                  <a:pt x="587375" y="793750"/>
                </a:lnTo>
                <a:cubicBezTo>
                  <a:pt x="613767" y="793750"/>
                  <a:pt x="635000" y="772517"/>
                  <a:pt x="635000" y="746125"/>
                </a:cubicBezTo>
                <a:cubicBezTo>
                  <a:pt x="635000" y="719733"/>
                  <a:pt x="613767" y="698500"/>
                  <a:pt x="587375" y="698500"/>
                </a:cubicBezTo>
                <a:lnTo>
                  <a:pt x="238125" y="698500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1B5E5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778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>
                    <a:alpha val="3137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349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794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Background, Motivation &amp; Project Overview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6510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EAEAE4"/>
          </a:solidFill>
          <a:ln/>
        </p:spPr>
      </p:sp>
      <p:sp>
        <p:nvSpPr>
          <p:cNvPr id="9" name="Text 7"/>
          <p:cNvSpPr/>
          <p:nvPr/>
        </p:nvSpPr>
        <p:spPr>
          <a:xfrm>
            <a:off x="6032500" y="1778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B5E5E">
                    <a:alpha val="25098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2500" y="2349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2794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Research &amp; Identified Gaps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0" y="16510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EAEAE4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0" y="1778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B5E5E">
                    <a:alpha val="25098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49000" y="2349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Definition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0" y="2794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 We Address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9370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EAEAE4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4064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B5E5E">
                    <a:alpha val="25098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4635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080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Architecture, Modules &amp; Methodology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78500" y="39370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EAEAE4"/>
          </a:solidFill>
          <a:ln/>
        </p:spPr>
      </p:sp>
      <p:sp>
        <p:nvSpPr>
          <p:cNvPr id="21" name="Text 19"/>
          <p:cNvSpPr/>
          <p:nvPr/>
        </p:nvSpPr>
        <p:spPr>
          <a:xfrm>
            <a:off x="6032500" y="4064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B5E5E">
                    <a:alpha val="25098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2500" y="4635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Discussion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2500" y="5080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Performance &amp; Testing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795000" y="39370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EAEAE4"/>
          </a:solidFill>
          <a:ln/>
        </p:spPr>
      </p:sp>
      <p:sp>
        <p:nvSpPr>
          <p:cNvPr id="25" name="Text 23"/>
          <p:cNvSpPr/>
          <p:nvPr/>
        </p:nvSpPr>
        <p:spPr>
          <a:xfrm>
            <a:off x="11049000" y="4064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B5E5E">
                    <a:alpha val="25098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49000" y="4635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49000" y="5080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&amp; Roadmap Ahead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604000"/>
            <a:ext cx="14732000" cy="12700"/>
          </a:xfrm>
          <a:prstGeom prst="rect">
            <a:avLst/>
          </a:prstGeom>
          <a:solidFill>
            <a:srgbClr val="D0D0C8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6794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HealthVision AI | B.Tech Project | GEC Munger | May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>
                    <a:alpha val="18824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1016000" y="3810000"/>
            <a:ext cx="12700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064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8895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Background, Motivation &amp; Project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335000" y="0"/>
            <a:ext cx="2921000" cy="9144000"/>
          </a:xfrm>
          <a:prstGeom prst="rect">
            <a:avLst/>
          </a:prstGeom>
          <a:solidFill>
            <a:srgbClr val="FFFFFF">
              <a:alpha val="3137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8458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19100"/>
            <a:ext cx="27051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 &amp; Motivation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81100"/>
            <a:ext cx="762000" cy="254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7112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Healthcare Challenge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1.7 billion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people lack access to essential health services. In rural India, the doctor-to-patient ratio is far below WHO standards.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Gap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Skin diseases affect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34%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Indians. Jaundice requires invasive blood tests. Nail disorders often go undetected.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82000" y="1460500"/>
            <a:ext cx="7112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Our Motivation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inspection is the primary diagnostic method for these conditions - making them ideal for AI-based image analysis.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Solution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accessible,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non-invasive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AI screening tool that works on any device with a camera and internet connection.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62000" y="5715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EAEAE4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6650" y="59944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C75B2A"/>
          </a:solidFill>
          <a:ln/>
        </p:spPr>
      </p:sp>
      <p:sp>
        <p:nvSpPr>
          <p:cNvPr id="16" name="Text 14"/>
          <p:cNvSpPr/>
          <p:nvPr/>
        </p:nvSpPr>
        <p:spPr>
          <a:xfrm>
            <a:off x="1778000" y="5842000"/>
            <a:ext cx="1333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HealthVision AI empowers individuals with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preliminary health assessments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encouraging timely medical consultation.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/ 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8458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19100"/>
            <a:ext cx="27051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81100"/>
            <a:ext cx="762000" cy="254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3970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HealthVision AI is a unified web platform combining three AI-powered disease detection modules into a single accessible application.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413000"/>
            <a:ext cx="46990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0925" y="2667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28575"/>
                </a:moveTo>
                <a:cubicBezTo>
                  <a:pt x="185023" y="28575"/>
                  <a:pt x="127248" y="61436"/>
                  <a:pt x="85189" y="100548"/>
                </a:cubicBezTo>
                <a:cubicBezTo>
                  <a:pt x="43398" y="139392"/>
                  <a:pt x="15448" y="185738"/>
                  <a:pt x="2143" y="217616"/>
                </a:cubicBezTo>
                <a:cubicBezTo>
                  <a:pt x="-804" y="224671"/>
                  <a:pt x="-804" y="232529"/>
                  <a:pt x="2143" y="239584"/>
                </a:cubicBezTo>
                <a:cubicBezTo>
                  <a:pt x="15448" y="271463"/>
                  <a:pt x="43398" y="317897"/>
                  <a:pt x="85189" y="356652"/>
                </a:cubicBezTo>
                <a:cubicBezTo>
                  <a:pt x="127248" y="395674"/>
                  <a:pt x="185023" y="428625"/>
                  <a:pt x="257175" y="428625"/>
                </a:cubicBezTo>
                <a:cubicBezTo>
                  <a:pt x="329327" y="428625"/>
                  <a:pt x="387102" y="395764"/>
                  <a:pt x="429161" y="356652"/>
                </a:cubicBezTo>
                <a:cubicBezTo>
                  <a:pt x="470952" y="317808"/>
                  <a:pt x="498902" y="271463"/>
                  <a:pt x="512207" y="239584"/>
                </a:cubicBezTo>
                <a:cubicBezTo>
                  <a:pt x="515154" y="232529"/>
                  <a:pt x="515154" y="224671"/>
                  <a:pt x="512207" y="217616"/>
                </a:cubicBezTo>
                <a:cubicBezTo>
                  <a:pt x="498902" y="185737"/>
                  <a:pt x="470952" y="139303"/>
                  <a:pt x="429161" y="100548"/>
                </a:cubicBezTo>
                <a:cubicBezTo>
                  <a:pt x="387102" y="61526"/>
                  <a:pt x="329327" y="28575"/>
                  <a:pt x="257175" y="28575"/>
                </a:cubicBezTo>
                <a:close/>
                <a:moveTo>
                  <a:pt x="128588" y="228600"/>
                </a:moveTo>
                <a:cubicBezTo>
                  <a:pt x="128588" y="157631"/>
                  <a:pt x="186206" y="100013"/>
                  <a:pt x="257175" y="100013"/>
                </a:cubicBezTo>
                <a:cubicBezTo>
                  <a:pt x="328144" y="100013"/>
                  <a:pt x="385763" y="157631"/>
                  <a:pt x="385763" y="228600"/>
                </a:cubicBezTo>
                <a:cubicBezTo>
                  <a:pt x="385763" y="299569"/>
                  <a:pt x="328144" y="357188"/>
                  <a:pt x="257175" y="357188"/>
                </a:cubicBezTo>
                <a:cubicBezTo>
                  <a:pt x="186206" y="357188"/>
                  <a:pt x="128588" y="299569"/>
                  <a:pt x="128588" y="228600"/>
                </a:cubicBezTo>
                <a:close/>
                <a:moveTo>
                  <a:pt x="257175" y="171450"/>
                </a:moveTo>
                <a:cubicBezTo>
                  <a:pt x="257175" y="202972"/>
                  <a:pt x="231547" y="228600"/>
                  <a:pt x="200025" y="228600"/>
                </a:cubicBezTo>
                <a:cubicBezTo>
                  <a:pt x="189756" y="228600"/>
                  <a:pt x="180112" y="225921"/>
                  <a:pt x="171718" y="221099"/>
                </a:cubicBezTo>
                <a:cubicBezTo>
                  <a:pt x="170825" y="230832"/>
                  <a:pt x="171629" y="240834"/>
                  <a:pt x="174308" y="250746"/>
                </a:cubicBezTo>
                <a:cubicBezTo>
                  <a:pt x="186541" y="296466"/>
                  <a:pt x="233601" y="323612"/>
                  <a:pt x="279321" y="311378"/>
                </a:cubicBezTo>
                <a:cubicBezTo>
                  <a:pt x="325041" y="299145"/>
                  <a:pt x="352187" y="252085"/>
                  <a:pt x="339953" y="206365"/>
                </a:cubicBezTo>
                <a:cubicBezTo>
                  <a:pt x="329059" y="165556"/>
                  <a:pt x="290393" y="139571"/>
                  <a:pt x="249674" y="143143"/>
                </a:cubicBezTo>
                <a:cubicBezTo>
                  <a:pt x="254407" y="151448"/>
                  <a:pt x="257175" y="161092"/>
                  <a:pt x="257175" y="171450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3238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Eye / Jaundice Detection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9500" y="36576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Analyzes sclera (white part of eye) for yellow discoloration indicating elevated bilirubin levels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78500" y="2413000"/>
            <a:ext cx="46990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6000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/>
            </a:pathLst>
          </a:custGeom>
          <a:solidFill>
            <a:srgbClr val="1B5E5E"/>
          </a:solidFill>
          <a:ln/>
        </p:spPr>
      </p:sp>
      <p:sp>
        <p:nvSpPr>
          <p:cNvPr id="19" name="Text 17"/>
          <p:cNvSpPr/>
          <p:nvPr/>
        </p:nvSpPr>
        <p:spPr>
          <a:xfrm>
            <a:off x="6096000" y="3238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/ Skin Disease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0" y="36576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Classifies facial skin into 5 categories: Acne, Eczema, Herpes, Panu, and Rosacea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95000" y="2413000"/>
            <a:ext cx="46990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12500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7175" y="28575"/>
                </a:moveTo>
                <a:cubicBezTo>
                  <a:pt x="257175" y="12769"/>
                  <a:pt x="244406" y="0"/>
                  <a:pt x="228600" y="0"/>
                </a:cubicBezTo>
                <a:cubicBezTo>
                  <a:pt x="212794" y="0"/>
                  <a:pt x="200025" y="12769"/>
                  <a:pt x="200025" y="28575"/>
                </a:cubicBezTo>
                <a:lnTo>
                  <a:pt x="200025" y="214313"/>
                </a:lnTo>
                <a:cubicBezTo>
                  <a:pt x="200025" y="222171"/>
                  <a:pt x="193596" y="228600"/>
                  <a:pt x="185738" y="228600"/>
                </a:cubicBezTo>
                <a:cubicBezTo>
                  <a:pt x="177879" y="228600"/>
                  <a:pt x="171450" y="222171"/>
                  <a:pt x="171450" y="214313"/>
                </a:cubicBezTo>
                <a:lnTo>
                  <a:pt x="171450" y="57150"/>
                </a:lnTo>
                <a:cubicBezTo>
                  <a:pt x="171450" y="41344"/>
                  <a:pt x="158681" y="28575"/>
                  <a:pt x="142875" y="28575"/>
                </a:cubicBezTo>
                <a:cubicBezTo>
                  <a:pt x="127069" y="28575"/>
                  <a:pt x="114300" y="41344"/>
                  <a:pt x="114300" y="57150"/>
                </a:cubicBezTo>
                <a:lnTo>
                  <a:pt x="114300" y="300038"/>
                </a:lnTo>
                <a:cubicBezTo>
                  <a:pt x="114300" y="301377"/>
                  <a:pt x="114300" y="302806"/>
                  <a:pt x="114389" y="304145"/>
                </a:cubicBezTo>
                <a:lnTo>
                  <a:pt x="60365" y="252710"/>
                </a:lnTo>
                <a:cubicBezTo>
                  <a:pt x="46077" y="239137"/>
                  <a:pt x="23485" y="239673"/>
                  <a:pt x="9823" y="253960"/>
                </a:cubicBezTo>
                <a:cubicBezTo>
                  <a:pt x="-3840" y="268248"/>
                  <a:pt x="-3215" y="290840"/>
                  <a:pt x="11073" y="304502"/>
                </a:cubicBezTo>
                <a:lnTo>
                  <a:pt x="111443" y="400050"/>
                </a:lnTo>
                <a:cubicBezTo>
                  <a:pt x="149929" y="436751"/>
                  <a:pt x="201097" y="457200"/>
                  <a:pt x="254318" y="457200"/>
                </a:cubicBezTo>
                <a:lnTo>
                  <a:pt x="271463" y="457200"/>
                </a:lnTo>
                <a:cubicBezTo>
                  <a:pt x="358259" y="457200"/>
                  <a:pt x="428625" y="386834"/>
                  <a:pt x="428625" y="300038"/>
                </a:cubicBezTo>
                <a:lnTo>
                  <a:pt x="428625" y="114300"/>
                </a:lnTo>
                <a:cubicBezTo>
                  <a:pt x="428625" y="98494"/>
                  <a:pt x="415856" y="85725"/>
                  <a:pt x="400050" y="85725"/>
                </a:cubicBezTo>
                <a:cubicBezTo>
                  <a:pt x="384244" y="85725"/>
                  <a:pt x="371475" y="98494"/>
                  <a:pt x="371475" y="114300"/>
                </a:cubicBezTo>
                <a:lnTo>
                  <a:pt x="371475" y="214313"/>
                </a:lnTo>
                <a:cubicBezTo>
                  <a:pt x="371475" y="222171"/>
                  <a:pt x="365046" y="228600"/>
                  <a:pt x="357188" y="228600"/>
                </a:cubicBezTo>
                <a:cubicBezTo>
                  <a:pt x="349329" y="228600"/>
                  <a:pt x="342900" y="222171"/>
                  <a:pt x="342900" y="214313"/>
                </a:cubicBezTo>
                <a:lnTo>
                  <a:pt x="342900" y="57150"/>
                </a:lnTo>
                <a:cubicBezTo>
                  <a:pt x="342900" y="41344"/>
                  <a:pt x="330131" y="28575"/>
                  <a:pt x="314325" y="28575"/>
                </a:cubicBezTo>
                <a:cubicBezTo>
                  <a:pt x="298519" y="28575"/>
                  <a:pt x="285750" y="41344"/>
                  <a:pt x="285750" y="57150"/>
                </a:cubicBezTo>
                <a:lnTo>
                  <a:pt x="285750" y="214313"/>
                </a:lnTo>
                <a:cubicBezTo>
                  <a:pt x="285750" y="222171"/>
                  <a:pt x="279321" y="228600"/>
                  <a:pt x="271463" y="228600"/>
                </a:cubicBezTo>
                <a:cubicBezTo>
                  <a:pt x="263604" y="228600"/>
                  <a:pt x="257175" y="222171"/>
                  <a:pt x="257175" y="214313"/>
                </a:cubicBezTo>
                <a:lnTo>
                  <a:pt x="257175" y="28575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12500" y="3238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Nail Disease Detection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12500" y="36576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nail conditions: Healthy, Onychomycosis (Fungal), and Psoriasis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5842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Flask (Python) | TensorFlow/Keras | OpenCV | HTML5/CSS3/JS | WebRTC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Render Cloud |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u="sng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healthvision-ai-1enh.onrender.com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/ 18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96000" y="2667000"/>
            <a:ext cx="468690" cy="468690"/>
          </a:xfrm>
          <a:custGeom>
            <a:avLst/>
            <a:gdLst/>
            <a:ahLst/>
            <a:cxnLst/>
            <a:rect l="l" t="t" r="r" b="b"/>
            <a:pathLst>
              <a:path w="468690" h="468690">
                <a:moveTo>
                  <a:pt x="234345" y="468690"/>
                </a:moveTo>
                <a:cubicBezTo>
                  <a:pt x="363684" y="468690"/>
                  <a:pt x="468690" y="363684"/>
                  <a:pt x="468690" y="234345"/>
                </a:cubicBezTo>
                <a:cubicBezTo>
                  <a:pt x="468690" y="105007"/>
                  <a:pt x="363684" y="0"/>
                  <a:pt x="234345" y="0"/>
                </a:cubicBezTo>
                <a:cubicBezTo>
                  <a:pt x="105007" y="0"/>
                  <a:pt x="0" y="105007"/>
                  <a:pt x="0" y="234345"/>
                </a:cubicBezTo>
                <a:cubicBezTo>
                  <a:pt x="0" y="363684"/>
                  <a:pt x="105007" y="468690"/>
                  <a:pt x="234345" y="468690"/>
                </a:cubicBezTo>
                <a:close/>
                <a:moveTo>
                  <a:pt x="161112" y="161112"/>
                </a:moveTo>
                <a:cubicBezTo>
                  <a:pt x="177280" y="161112"/>
                  <a:pt x="190406" y="174238"/>
                  <a:pt x="190406" y="190406"/>
                </a:cubicBezTo>
                <a:cubicBezTo>
                  <a:pt x="190406" y="206573"/>
                  <a:pt x="177280" y="219699"/>
                  <a:pt x="161112" y="219699"/>
                </a:cubicBezTo>
                <a:cubicBezTo>
                  <a:pt x="144945" y="219699"/>
                  <a:pt x="131819" y="206573"/>
                  <a:pt x="131819" y="190406"/>
                </a:cubicBezTo>
                <a:cubicBezTo>
                  <a:pt x="131819" y="174238"/>
                  <a:pt x="144945" y="161112"/>
                  <a:pt x="161112" y="161112"/>
                </a:cubicBezTo>
                <a:close/>
                <a:moveTo>
                  <a:pt x="278285" y="190406"/>
                </a:moveTo>
                <a:cubicBezTo>
                  <a:pt x="278285" y="174238"/>
                  <a:pt x="291411" y="161112"/>
                  <a:pt x="307578" y="161112"/>
                </a:cubicBezTo>
                <a:cubicBezTo>
                  <a:pt x="323745" y="161112"/>
                  <a:pt x="336871" y="174238"/>
                  <a:pt x="336871" y="190406"/>
                </a:cubicBezTo>
                <a:cubicBezTo>
                  <a:pt x="336871" y="206573"/>
                  <a:pt x="323745" y="219699"/>
                  <a:pt x="307578" y="219699"/>
                </a:cubicBezTo>
                <a:cubicBezTo>
                  <a:pt x="291411" y="219699"/>
                  <a:pt x="278285" y="206573"/>
                  <a:pt x="278285" y="190406"/>
                </a:cubicBezTo>
                <a:close/>
                <a:moveTo>
                  <a:pt x="161112" y="292932"/>
                </a:moveTo>
                <a:lnTo>
                  <a:pt x="307578" y="292932"/>
                </a:lnTo>
                <a:cubicBezTo>
                  <a:pt x="319753" y="292932"/>
                  <a:pt x="329548" y="302726"/>
                  <a:pt x="329548" y="314901"/>
                </a:cubicBezTo>
                <a:cubicBezTo>
                  <a:pt x="329548" y="327076"/>
                  <a:pt x="319753" y="336871"/>
                  <a:pt x="307578" y="336871"/>
                </a:cubicBezTo>
                <a:lnTo>
                  <a:pt x="161112" y="336871"/>
                </a:lnTo>
                <a:cubicBezTo>
                  <a:pt x="148937" y="336871"/>
                  <a:pt x="139142" y="327076"/>
                  <a:pt x="139142" y="314901"/>
                </a:cubicBezTo>
                <a:cubicBezTo>
                  <a:pt x="139142" y="302726"/>
                  <a:pt x="148937" y="292932"/>
                  <a:pt x="161112" y="292932"/>
                </a:cubicBezTo>
                <a:close/>
              </a:path>
            </a:pathLst>
          </a:custGeom>
          <a:solidFill>
            <a:srgbClr val="0C301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>
                    <a:alpha val="18824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1016000" y="3810000"/>
            <a:ext cx="12700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064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8895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Research &amp; Identified Gaps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335000" y="0"/>
            <a:ext cx="2921000" cy="9144000"/>
          </a:xfrm>
          <a:prstGeom prst="rect">
            <a:avLst/>
          </a:prstGeom>
          <a:solidFill>
            <a:srgbClr val="FFFFFF">
              <a:alpha val="3137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8458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05100" y="419100"/>
            <a:ext cx="27178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Related Work &amp; Research Gaps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81100"/>
            <a:ext cx="762000" cy="254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7112000" cy="387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in Medical Imaging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Esteva et al. (2017) - CNN trained on 129,450 images achieved dermatologist-level skin cancer classification [1]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Transfer Learning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Rajpurkar et al. (2017) - DenseNet exceeded radiologist performance on chest X-rays [7]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Jaundice Detection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Jaiswal et al. (2018) - Smartphone-based sclera screening with 92% accuracy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1460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75B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Research Gaps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1879600"/>
            <a:ext cx="508000" cy="254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2095500"/>
            <a:ext cx="711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unified platform for multi-body-part disease detection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end-to-end jaundice pipeline from sclera to report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systems lack cloud deployment or user-friendly UI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AI post-prediction support (hospital finder, booking)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accessible tools for rural India populations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461000"/>
          <a:ext cx="14732000" cy="2667000"/>
        </p:xfrm>
        <a:graphic>
          <a:graphicData uri="http://schemas.openxmlformats.org/drawingml/2006/table">
            <a:tbl>
              <a:tblPr/>
              <a:tblGrid>
                <a:gridCol w="3683000"/>
                <a:gridCol w="2946400"/>
                <a:gridCol w="3683000"/>
                <a:gridCol w="4419600"/>
              </a:tblGrid>
              <a:tr h="58143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Approach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Task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</a:tr>
              <a:tr h="69519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Blood Test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Jaundice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N/A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Invasive, requires lab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69519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HAM10000 + EfficientNet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Skin Lesion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EfficientNetB0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Limited to specific lesions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</a:tr>
              <a:tr h="69519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75B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HealthVision AI (Ours)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75B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Multi-disease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75B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MobileNetV2 + EfficientNet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75B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Multi-module, web-based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 / 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>
                    <a:alpha val="18824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1016000" y="3810000"/>
            <a:ext cx="12700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064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 Definition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8895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 We Address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335000" y="0"/>
            <a:ext cx="2921000" cy="9144000"/>
          </a:xfrm>
          <a:prstGeom prst="rect">
            <a:avLst/>
          </a:prstGeom>
          <a:solidFill>
            <a:srgbClr val="FFFFFF">
              <a:alpha val="3137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8458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22900" y="419100"/>
            <a:ext cx="27051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81100"/>
            <a:ext cx="762000" cy="254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common health conditions require visual inspection for initial diagnosis. The primary problem is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accessible, non-invasive screening tools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especially in areas with limited healthcare infrastructure.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476500"/>
            <a:ext cx="7112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0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6000" y="273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54943" y="6995"/>
                </a:moveTo>
                <a:cubicBezTo>
                  <a:pt x="245641" y="-2307"/>
                  <a:pt x="230535" y="-2307"/>
                  <a:pt x="221233" y="6995"/>
                </a:cubicBezTo>
                <a:cubicBezTo>
                  <a:pt x="211931" y="16297"/>
                  <a:pt x="211931" y="31403"/>
                  <a:pt x="221233" y="40704"/>
                </a:cubicBezTo>
                <a:lnTo>
                  <a:pt x="228228" y="47625"/>
                </a:lnTo>
                <a:lnTo>
                  <a:pt x="20910" y="254943"/>
                </a:lnTo>
                <a:cubicBezTo>
                  <a:pt x="7516" y="268337"/>
                  <a:pt x="0" y="286494"/>
                  <a:pt x="0" y="305470"/>
                </a:cubicBezTo>
                <a:lnTo>
                  <a:pt x="0" y="309563"/>
                </a:lnTo>
                <a:cubicBezTo>
                  <a:pt x="0" y="349002"/>
                  <a:pt x="31998" y="381000"/>
                  <a:pt x="71438" y="381000"/>
                </a:cubicBezTo>
                <a:lnTo>
                  <a:pt x="75530" y="381000"/>
                </a:lnTo>
                <a:cubicBezTo>
                  <a:pt x="94506" y="381000"/>
                  <a:pt x="112663" y="373484"/>
                  <a:pt x="126057" y="360090"/>
                </a:cubicBezTo>
                <a:lnTo>
                  <a:pt x="333375" y="152772"/>
                </a:lnTo>
                <a:lnTo>
                  <a:pt x="340370" y="159767"/>
                </a:lnTo>
                <a:cubicBezTo>
                  <a:pt x="349672" y="169069"/>
                  <a:pt x="364778" y="169069"/>
                  <a:pt x="374079" y="159767"/>
                </a:cubicBezTo>
                <a:cubicBezTo>
                  <a:pt x="383381" y="150465"/>
                  <a:pt x="383381" y="135359"/>
                  <a:pt x="374079" y="126057"/>
                </a:cubicBezTo>
                <a:lnTo>
                  <a:pt x="255017" y="6995"/>
                </a:lnTo>
                <a:close/>
                <a:moveTo>
                  <a:pt x="152772" y="190500"/>
                </a:moveTo>
                <a:lnTo>
                  <a:pt x="261938" y="81335"/>
                </a:lnTo>
                <a:lnTo>
                  <a:pt x="299665" y="119063"/>
                </a:lnTo>
                <a:lnTo>
                  <a:pt x="228228" y="190500"/>
                </a:lnTo>
                <a:lnTo>
                  <a:pt x="152698" y="190500"/>
                </a:lnTo>
                <a:close/>
              </a:path>
            </a:pathLst>
          </a:custGeom>
          <a:solidFill>
            <a:srgbClr val="C75B2A"/>
          </a:solidFill>
          <a:ln/>
        </p:spPr>
      </p:sp>
      <p:sp>
        <p:nvSpPr>
          <p:cNvPr id="15" name="Text 13"/>
          <p:cNvSpPr/>
          <p:nvPr/>
        </p:nvSpPr>
        <p:spPr>
          <a:xfrm>
            <a:off x="1587500" y="26035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Jaundice Detection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Blood tests for bilirubin are invasive, time-consuming, and costly in rural settings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2476500"/>
            <a:ext cx="7112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0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36000" y="273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14313" y="23812"/>
                </a:moveTo>
                <a:cubicBezTo>
                  <a:pt x="214313" y="10641"/>
                  <a:pt x="203671" y="0"/>
                  <a:pt x="190500" y="0"/>
                </a:cubicBezTo>
                <a:cubicBezTo>
                  <a:pt x="177329" y="0"/>
                  <a:pt x="166688" y="10641"/>
                  <a:pt x="166688" y="23812"/>
                </a:cubicBezTo>
                <a:lnTo>
                  <a:pt x="166688" y="178594"/>
                </a:lnTo>
                <a:cubicBezTo>
                  <a:pt x="166688" y="185142"/>
                  <a:pt x="161330" y="190500"/>
                  <a:pt x="154781" y="190500"/>
                </a:cubicBezTo>
                <a:cubicBezTo>
                  <a:pt x="148233" y="190500"/>
                  <a:pt x="142875" y="185142"/>
                  <a:pt x="142875" y="178594"/>
                </a:cubicBezTo>
                <a:lnTo>
                  <a:pt x="142875" y="47625"/>
                </a:lnTo>
                <a:cubicBezTo>
                  <a:pt x="142875" y="34454"/>
                  <a:pt x="132234" y="23812"/>
                  <a:pt x="119063" y="23812"/>
                </a:cubicBezTo>
                <a:cubicBezTo>
                  <a:pt x="105891" y="23812"/>
                  <a:pt x="95250" y="34454"/>
                  <a:pt x="95250" y="47625"/>
                </a:cubicBezTo>
                <a:lnTo>
                  <a:pt x="95250" y="250031"/>
                </a:lnTo>
                <a:cubicBezTo>
                  <a:pt x="95250" y="251147"/>
                  <a:pt x="95250" y="252338"/>
                  <a:pt x="95324" y="253454"/>
                </a:cubicBezTo>
                <a:lnTo>
                  <a:pt x="50304" y="210592"/>
                </a:lnTo>
                <a:cubicBezTo>
                  <a:pt x="38398" y="199281"/>
                  <a:pt x="19571" y="199727"/>
                  <a:pt x="8186" y="211634"/>
                </a:cubicBezTo>
                <a:cubicBezTo>
                  <a:pt x="-3200" y="223540"/>
                  <a:pt x="-2679" y="242367"/>
                  <a:pt x="9227" y="253752"/>
                </a:cubicBezTo>
                <a:lnTo>
                  <a:pt x="92869" y="333375"/>
                </a:lnTo>
                <a:cubicBezTo>
                  <a:pt x="124941" y="363959"/>
                  <a:pt x="167580" y="381000"/>
                  <a:pt x="211931" y="381000"/>
                </a:cubicBezTo>
                <a:lnTo>
                  <a:pt x="226219" y="381000"/>
                </a:lnTo>
                <a:cubicBezTo>
                  <a:pt x="298549" y="381000"/>
                  <a:pt x="357188" y="322362"/>
                  <a:pt x="357188" y="250031"/>
                </a:cubicBezTo>
                <a:lnTo>
                  <a:pt x="357188" y="95250"/>
                </a:lnTo>
                <a:cubicBezTo>
                  <a:pt x="357188" y="82079"/>
                  <a:pt x="346546" y="71438"/>
                  <a:pt x="333375" y="71438"/>
                </a:cubicBezTo>
                <a:cubicBezTo>
                  <a:pt x="320204" y="71438"/>
                  <a:pt x="309563" y="82079"/>
                  <a:pt x="309563" y="95250"/>
                </a:cubicBezTo>
                <a:lnTo>
                  <a:pt x="309563" y="178594"/>
                </a:lnTo>
                <a:cubicBezTo>
                  <a:pt x="309563" y="185142"/>
                  <a:pt x="304205" y="190500"/>
                  <a:pt x="297656" y="190500"/>
                </a:cubicBezTo>
                <a:cubicBezTo>
                  <a:pt x="291108" y="190500"/>
                  <a:pt x="285750" y="185142"/>
                  <a:pt x="285750" y="178594"/>
                </a:cubicBezTo>
                <a:lnTo>
                  <a:pt x="285750" y="47625"/>
                </a:lnTo>
                <a:cubicBezTo>
                  <a:pt x="285750" y="34454"/>
                  <a:pt x="275109" y="23812"/>
                  <a:pt x="261938" y="23812"/>
                </a:cubicBezTo>
                <a:cubicBezTo>
                  <a:pt x="248766" y="23812"/>
                  <a:pt x="238125" y="34454"/>
                  <a:pt x="238125" y="47625"/>
                </a:cubicBezTo>
                <a:lnTo>
                  <a:pt x="238125" y="178594"/>
                </a:lnTo>
                <a:cubicBezTo>
                  <a:pt x="238125" y="185142"/>
                  <a:pt x="232767" y="190500"/>
                  <a:pt x="226219" y="190500"/>
                </a:cubicBezTo>
                <a:cubicBezTo>
                  <a:pt x="219670" y="190500"/>
                  <a:pt x="214313" y="185142"/>
                  <a:pt x="214313" y="178594"/>
                </a:cubicBezTo>
                <a:lnTo>
                  <a:pt x="214313" y="23812"/>
                </a:lnTo>
                <a:close/>
                <a:moveTo>
                  <a:pt x="148828" y="261938"/>
                </a:moveTo>
                <a:cubicBezTo>
                  <a:pt x="148828" y="252081"/>
                  <a:pt x="156831" y="244078"/>
                  <a:pt x="166688" y="244078"/>
                </a:cubicBezTo>
                <a:cubicBezTo>
                  <a:pt x="176544" y="244078"/>
                  <a:pt x="184547" y="252081"/>
                  <a:pt x="184547" y="261938"/>
                </a:cubicBezTo>
                <a:cubicBezTo>
                  <a:pt x="184547" y="271794"/>
                  <a:pt x="176544" y="279797"/>
                  <a:pt x="166688" y="279797"/>
                </a:cubicBezTo>
                <a:cubicBezTo>
                  <a:pt x="156831" y="279797"/>
                  <a:pt x="148828" y="271794"/>
                  <a:pt x="148828" y="261938"/>
                </a:cubicBezTo>
                <a:close/>
                <a:moveTo>
                  <a:pt x="238125" y="220266"/>
                </a:moveTo>
                <a:cubicBezTo>
                  <a:pt x="247982" y="220266"/>
                  <a:pt x="255984" y="228268"/>
                  <a:pt x="255984" y="238125"/>
                </a:cubicBezTo>
                <a:cubicBezTo>
                  <a:pt x="255984" y="247982"/>
                  <a:pt x="247982" y="255984"/>
                  <a:pt x="238125" y="255984"/>
                </a:cubicBezTo>
                <a:cubicBezTo>
                  <a:pt x="228268" y="255984"/>
                  <a:pt x="220266" y="247982"/>
                  <a:pt x="220266" y="238125"/>
                </a:cubicBezTo>
                <a:cubicBezTo>
                  <a:pt x="220266" y="228268"/>
                  <a:pt x="228268" y="220266"/>
                  <a:pt x="238125" y="220266"/>
                </a:cubicBezTo>
                <a:close/>
                <a:moveTo>
                  <a:pt x="267891" y="285750"/>
                </a:moveTo>
                <a:cubicBezTo>
                  <a:pt x="267891" y="275893"/>
                  <a:pt x="275893" y="267891"/>
                  <a:pt x="285750" y="267891"/>
                </a:cubicBezTo>
                <a:cubicBezTo>
                  <a:pt x="295607" y="267891"/>
                  <a:pt x="303609" y="275893"/>
                  <a:pt x="303609" y="285750"/>
                </a:cubicBezTo>
                <a:cubicBezTo>
                  <a:pt x="303609" y="295607"/>
                  <a:pt x="295607" y="303609"/>
                  <a:pt x="285750" y="303609"/>
                </a:cubicBezTo>
                <a:cubicBezTo>
                  <a:pt x="275893" y="303609"/>
                  <a:pt x="267891" y="295607"/>
                  <a:pt x="267891" y="285750"/>
                </a:cubicBezTo>
                <a:close/>
                <a:moveTo>
                  <a:pt x="202406" y="303609"/>
                </a:moveTo>
                <a:cubicBezTo>
                  <a:pt x="212263" y="303609"/>
                  <a:pt x="220266" y="311612"/>
                  <a:pt x="220266" y="321469"/>
                </a:cubicBezTo>
                <a:cubicBezTo>
                  <a:pt x="220266" y="331326"/>
                  <a:pt x="212263" y="339328"/>
                  <a:pt x="202406" y="339328"/>
                </a:cubicBezTo>
                <a:cubicBezTo>
                  <a:pt x="192549" y="339328"/>
                  <a:pt x="184547" y="331326"/>
                  <a:pt x="184547" y="321469"/>
                </a:cubicBezTo>
                <a:cubicBezTo>
                  <a:pt x="184547" y="311612"/>
                  <a:pt x="192549" y="303609"/>
                  <a:pt x="202406" y="303609"/>
                </a:cubicBezTo>
                <a:close/>
              </a:path>
            </a:pathLst>
          </a:custGeom>
          <a:solidFill>
            <a:srgbClr val="C75B2A"/>
          </a:solidFill>
          <a:ln/>
        </p:spPr>
      </p:sp>
      <p:sp>
        <p:nvSpPr>
          <p:cNvPr id="18" name="Text 16"/>
          <p:cNvSpPr/>
          <p:nvPr/>
        </p:nvSpPr>
        <p:spPr>
          <a:xfrm>
            <a:off x="9207500" y="26035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Skin Diseases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Patients wait weeks for dermatologist appointments; conditions often misdiagnosed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127500"/>
            <a:ext cx="7112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0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6000" y="4381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14313" y="23812"/>
                </a:moveTo>
                <a:cubicBezTo>
                  <a:pt x="214313" y="10641"/>
                  <a:pt x="203671" y="0"/>
                  <a:pt x="190500" y="0"/>
                </a:cubicBezTo>
                <a:cubicBezTo>
                  <a:pt x="177329" y="0"/>
                  <a:pt x="166688" y="10641"/>
                  <a:pt x="166688" y="23812"/>
                </a:cubicBezTo>
                <a:lnTo>
                  <a:pt x="166688" y="178594"/>
                </a:lnTo>
                <a:cubicBezTo>
                  <a:pt x="166688" y="185142"/>
                  <a:pt x="161330" y="190500"/>
                  <a:pt x="154781" y="190500"/>
                </a:cubicBezTo>
                <a:cubicBezTo>
                  <a:pt x="148233" y="190500"/>
                  <a:pt x="142875" y="185142"/>
                  <a:pt x="142875" y="178594"/>
                </a:cubicBezTo>
                <a:lnTo>
                  <a:pt x="142875" y="47625"/>
                </a:lnTo>
                <a:cubicBezTo>
                  <a:pt x="142875" y="34454"/>
                  <a:pt x="132234" y="23812"/>
                  <a:pt x="119063" y="23812"/>
                </a:cubicBezTo>
                <a:cubicBezTo>
                  <a:pt x="105891" y="23812"/>
                  <a:pt x="95250" y="34454"/>
                  <a:pt x="95250" y="47625"/>
                </a:cubicBezTo>
                <a:lnTo>
                  <a:pt x="95250" y="250031"/>
                </a:lnTo>
                <a:cubicBezTo>
                  <a:pt x="95250" y="251147"/>
                  <a:pt x="95250" y="252338"/>
                  <a:pt x="95324" y="253454"/>
                </a:cubicBezTo>
                <a:lnTo>
                  <a:pt x="50304" y="210592"/>
                </a:lnTo>
                <a:cubicBezTo>
                  <a:pt x="38398" y="199281"/>
                  <a:pt x="19571" y="199727"/>
                  <a:pt x="8186" y="211634"/>
                </a:cubicBezTo>
                <a:cubicBezTo>
                  <a:pt x="-3200" y="223540"/>
                  <a:pt x="-2679" y="242367"/>
                  <a:pt x="9227" y="253752"/>
                </a:cubicBezTo>
                <a:lnTo>
                  <a:pt x="92869" y="333375"/>
                </a:lnTo>
                <a:cubicBezTo>
                  <a:pt x="124941" y="363959"/>
                  <a:pt x="167580" y="381000"/>
                  <a:pt x="211931" y="381000"/>
                </a:cubicBezTo>
                <a:lnTo>
                  <a:pt x="226219" y="381000"/>
                </a:lnTo>
                <a:cubicBezTo>
                  <a:pt x="298549" y="381000"/>
                  <a:pt x="357188" y="322362"/>
                  <a:pt x="357188" y="250031"/>
                </a:cubicBezTo>
                <a:lnTo>
                  <a:pt x="357188" y="95250"/>
                </a:lnTo>
                <a:cubicBezTo>
                  <a:pt x="357188" y="82079"/>
                  <a:pt x="346546" y="71438"/>
                  <a:pt x="333375" y="71438"/>
                </a:cubicBezTo>
                <a:cubicBezTo>
                  <a:pt x="320204" y="71438"/>
                  <a:pt x="309563" y="82079"/>
                  <a:pt x="309563" y="95250"/>
                </a:cubicBezTo>
                <a:lnTo>
                  <a:pt x="309563" y="178594"/>
                </a:lnTo>
                <a:cubicBezTo>
                  <a:pt x="309563" y="185142"/>
                  <a:pt x="304205" y="190500"/>
                  <a:pt x="297656" y="190500"/>
                </a:cubicBezTo>
                <a:cubicBezTo>
                  <a:pt x="291108" y="190500"/>
                  <a:pt x="285750" y="185142"/>
                  <a:pt x="285750" y="178594"/>
                </a:cubicBezTo>
                <a:lnTo>
                  <a:pt x="285750" y="47625"/>
                </a:lnTo>
                <a:cubicBezTo>
                  <a:pt x="285750" y="34454"/>
                  <a:pt x="275109" y="23812"/>
                  <a:pt x="261938" y="23812"/>
                </a:cubicBezTo>
                <a:cubicBezTo>
                  <a:pt x="248766" y="23812"/>
                  <a:pt x="238125" y="34454"/>
                  <a:pt x="238125" y="47625"/>
                </a:cubicBezTo>
                <a:lnTo>
                  <a:pt x="238125" y="178594"/>
                </a:lnTo>
                <a:cubicBezTo>
                  <a:pt x="238125" y="185142"/>
                  <a:pt x="232767" y="190500"/>
                  <a:pt x="226219" y="190500"/>
                </a:cubicBezTo>
                <a:cubicBezTo>
                  <a:pt x="219670" y="190500"/>
                  <a:pt x="214313" y="185142"/>
                  <a:pt x="214313" y="178594"/>
                </a:cubicBezTo>
                <a:lnTo>
                  <a:pt x="214313" y="23812"/>
                </a:lnTo>
                <a:close/>
              </a:path>
            </a:pathLst>
          </a:custGeom>
          <a:solidFill>
            <a:srgbClr val="C75B2A"/>
          </a:solidFill>
          <a:ln/>
        </p:spPr>
      </p:sp>
      <p:sp>
        <p:nvSpPr>
          <p:cNvPr id="21" name="Text 19"/>
          <p:cNvSpPr/>
          <p:nvPr/>
        </p:nvSpPr>
        <p:spPr>
          <a:xfrm>
            <a:off x="1587500" y="42545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Nail Disorders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visual signs of systemic conditions often go unnoticed without specialist care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4127500"/>
            <a:ext cx="7112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0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9813" y="43815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66688" y="5953"/>
                </a:moveTo>
                <a:cubicBezTo>
                  <a:pt x="117403" y="5953"/>
                  <a:pt x="77391" y="45966"/>
                  <a:pt x="77391" y="95250"/>
                </a:cubicBezTo>
                <a:cubicBezTo>
                  <a:pt x="77391" y="144534"/>
                  <a:pt x="117403" y="184547"/>
                  <a:pt x="166687" y="184547"/>
                </a:cubicBezTo>
                <a:cubicBezTo>
                  <a:pt x="215972" y="184547"/>
                  <a:pt x="255984" y="144534"/>
                  <a:pt x="255984" y="95250"/>
                </a:cubicBezTo>
                <a:cubicBezTo>
                  <a:pt x="255984" y="45966"/>
                  <a:pt x="215972" y="5953"/>
                  <a:pt x="166688" y="5953"/>
                </a:cubicBezTo>
                <a:close/>
                <a:moveTo>
                  <a:pt x="211336" y="238720"/>
                </a:moveTo>
                <a:cubicBezTo>
                  <a:pt x="207318" y="238348"/>
                  <a:pt x="203150" y="238125"/>
                  <a:pt x="198983" y="238125"/>
                </a:cubicBezTo>
                <a:lnTo>
                  <a:pt x="134317" y="238125"/>
                </a:lnTo>
                <a:cubicBezTo>
                  <a:pt x="130150" y="238125"/>
                  <a:pt x="126057" y="238348"/>
                  <a:pt x="121965" y="238720"/>
                </a:cubicBezTo>
                <a:lnTo>
                  <a:pt x="121965" y="288950"/>
                </a:lnTo>
                <a:cubicBezTo>
                  <a:pt x="134243" y="294605"/>
                  <a:pt x="142801" y="307032"/>
                  <a:pt x="142801" y="321394"/>
                </a:cubicBezTo>
                <a:cubicBezTo>
                  <a:pt x="142801" y="341114"/>
                  <a:pt x="126802" y="357113"/>
                  <a:pt x="107082" y="357113"/>
                </a:cubicBezTo>
                <a:cubicBezTo>
                  <a:pt x="87362" y="357113"/>
                  <a:pt x="71363" y="341114"/>
                  <a:pt x="71363" y="321394"/>
                </a:cubicBezTo>
                <a:cubicBezTo>
                  <a:pt x="71363" y="306958"/>
                  <a:pt x="79921" y="294531"/>
                  <a:pt x="92199" y="288950"/>
                </a:cubicBezTo>
                <a:lnTo>
                  <a:pt x="92199" y="245492"/>
                </a:lnTo>
                <a:cubicBezTo>
                  <a:pt x="45393" y="262682"/>
                  <a:pt x="11906" y="307777"/>
                  <a:pt x="11906" y="360611"/>
                </a:cubicBezTo>
                <a:cubicBezTo>
                  <a:pt x="11906" y="371847"/>
                  <a:pt x="21059" y="381000"/>
                  <a:pt x="32296" y="381000"/>
                </a:cubicBezTo>
                <a:lnTo>
                  <a:pt x="301005" y="381000"/>
                </a:lnTo>
                <a:cubicBezTo>
                  <a:pt x="312241" y="381000"/>
                  <a:pt x="321394" y="371847"/>
                  <a:pt x="321394" y="360611"/>
                </a:cubicBezTo>
                <a:cubicBezTo>
                  <a:pt x="321394" y="307777"/>
                  <a:pt x="287908" y="262756"/>
                  <a:pt x="241027" y="245566"/>
                </a:cubicBezTo>
                <a:lnTo>
                  <a:pt x="241027" y="273397"/>
                </a:lnTo>
                <a:cubicBezTo>
                  <a:pt x="258366" y="279499"/>
                  <a:pt x="270793" y="296094"/>
                  <a:pt x="270793" y="315516"/>
                </a:cubicBezTo>
                <a:lnTo>
                  <a:pt x="270793" y="339328"/>
                </a:lnTo>
                <a:cubicBezTo>
                  <a:pt x="270793" y="347514"/>
                  <a:pt x="264096" y="354211"/>
                  <a:pt x="255910" y="354211"/>
                </a:cubicBezTo>
                <a:cubicBezTo>
                  <a:pt x="247724" y="354211"/>
                  <a:pt x="241027" y="347514"/>
                  <a:pt x="241027" y="339328"/>
                </a:cubicBezTo>
                <a:lnTo>
                  <a:pt x="241027" y="315516"/>
                </a:lnTo>
                <a:cubicBezTo>
                  <a:pt x="241027" y="307330"/>
                  <a:pt x="234330" y="300633"/>
                  <a:pt x="226144" y="300633"/>
                </a:cubicBezTo>
                <a:cubicBezTo>
                  <a:pt x="217959" y="300633"/>
                  <a:pt x="211262" y="307330"/>
                  <a:pt x="211262" y="315516"/>
                </a:cubicBezTo>
                <a:lnTo>
                  <a:pt x="211262" y="339328"/>
                </a:lnTo>
                <a:cubicBezTo>
                  <a:pt x="211262" y="347514"/>
                  <a:pt x="204564" y="354211"/>
                  <a:pt x="196379" y="354211"/>
                </a:cubicBezTo>
                <a:cubicBezTo>
                  <a:pt x="188193" y="354211"/>
                  <a:pt x="181496" y="347514"/>
                  <a:pt x="181496" y="339328"/>
                </a:cubicBezTo>
                <a:lnTo>
                  <a:pt x="181496" y="315516"/>
                </a:lnTo>
                <a:cubicBezTo>
                  <a:pt x="181496" y="296094"/>
                  <a:pt x="193923" y="279574"/>
                  <a:pt x="211262" y="273397"/>
                </a:cubicBezTo>
                <a:lnTo>
                  <a:pt x="211262" y="238720"/>
                </a:lnTo>
                <a:close/>
              </a:path>
            </a:pathLst>
          </a:custGeom>
          <a:solidFill>
            <a:srgbClr val="C75B2A"/>
          </a:solidFill>
          <a:ln/>
        </p:spPr>
      </p:sp>
      <p:sp>
        <p:nvSpPr>
          <p:cNvPr id="24" name="Text 22"/>
          <p:cNvSpPr/>
          <p:nvPr/>
        </p:nvSpPr>
        <p:spPr>
          <a:xfrm>
            <a:off x="9207500" y="42545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Subjectivity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visual inspection is subjective and prone to error without specialist training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9690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1B5E5E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6070600"/>
            <a:ext cx="444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1.7B+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health services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88000" y="6223000"/>
            <a:ext cx="12700" cy="5080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842000" y="6070600"/>
            <a:ext cx="444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34%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Indians affected by skin diseases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414000" y="6223000"/>
            <a:ext cx="12700" cy="5080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668000" y="6070600"/>
            <a:ext cx="457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1:1000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 recommended doctor ratio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 / 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>
                    <a:alpha val="18824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1016000" y="3810000"/>
            <a:ext cx="12700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064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8895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Architecture, Modules &amp; Methodology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335000" y="0"/>
            <a:ext cx="2921000" cy="9144000"/>
          </a:xfrm>
          <a:prstGeom prst="rect">
            <a:avLst/>
          </a:prstGeom>
          <a:solidFill>
            <a:srgbClr val="FFFFFF">
              <a:alpha val="3137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8458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8000" y="419100"/>
            <a:ext cx="27178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81100"/>
            <a:ext cx="762000" cy="254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Client-server architecture with Flask backend serving three independent deep learning models for end-to-end prediction.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349500"/>
            <a:ext cx="3302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32000" y="254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  <a:moveTo>
                  <a:pt x="95250" y="95250"/>
                </a:moveTo>
                <a:lnTo>
                  <a:pt x="412750" y="95250"/>
                </a:lnTo>
                <a:cubicBezTo>
                  <a:pt x="430312" y="95250"/>
                  <a:pt x="444500" y="109438"/>
                  <a:pt x="444500" y="127000"/>
                </a:cubicBezTo>
                <a:lnTo>
                  <a:pt x="444500" y="285750"/>
                </a:lnTo>
                <a:cubicBezTo>
                  <a:pt x="444500" y="303312"/>
                  <a:pt x="430312" y="317500"/>
                  <a:pt x="412750" y="317500"/>
                </a:cubicBezTo>
                <a:lnTo>
                  <a:pt x="95250" y="317500"/>
                </a:lnTo>
                <a:cubicBezTo>
                  <a:pt x="77688" y="317500"/>
                  <a:pt x="63500" y="303312"/>
                  <a:pt x="63500" y="285750"/>
                </a:cubicBezTo>
                <a:lnTo>
                  <a:pt x="63500" y="127000"/>
                </a:lnTo>
                <a:cubicBezTo>
                  <a:pt x="63500" y="109438"/>
                  <a:pt x="77688" y="95250"/>
                  <a:pt x="95250" y="95250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31496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2500" y="3530600"/>
            <a:ext cx="292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SPA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HTML5 / CSS3 / JS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 Camera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Canvas ROI Overlay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18000" y="3492500"/>
            <a:ext cx="635000" cy="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207000" y="2349500"/>
            <a:ext cx="3302000" cy="2540000"/>
          </a:xfrm>
          <a:prstGeom prst="roundRect">
            <a:avLst>
              <a:gd name="adj" fmla="val 6000"/>
            </a:avLst>
          </a:prstGeom>
          <a:solidFill>
            <a:srgbClr val="1B5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6508750" y="2540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158750"/>
                </a:lnTo>
                <a:cubicBezTo>
                  <a:pt x="0" y="193774"/>
                  <a:pt x="28476" y="222250"/>
                  <a:pt x="63500" y="222250"/>
                </a:cubicBezTo>
                <a:lnTo>
                  <a:pt x="381000" y="222250"/>
                </a:lnTo>
                <a:cubicBezTo>
                  <a:pt x="416024" y="222250"/>
                  <a:pt x="444500" y="193774"/>
                  <a:pt x="444500" y="158750"/>
                </a:cubicBezTo>
                <a:lnTo>
                  <a:pt x="444500" y="95250"/>
                </a:lnTo>
                <a:cubicBezTo>
                  <a:pt x="444500" y="60226"/>
                  <a:pt x="416024" y="31750"/>
                  <a:pt x="381000" y="31750"/>
                </a:cubicBezTo>
                <a:lnTo>
                  <a:pt x="63500" y="31750"/>
                </a:lnTo>
                <a:close/>
                <a:moveTo>
                  <a:pt x="277813" y="103188"/>
                </a:moveTo>
                <a:cubicBezTo>
                  <a:pt x="290955" y="103188"/>
                  <a:pt x="301625" y="113858"/>
                  <a:pt x="301625" y="127000"/>
                </a:cubicBezTo>
                <a:cubicBezTo>
                  <a:pt x="301625" y="140142"/>
                  <a:pt x="290955" y="150813"/>
                  <a:pt x="277813" y="150813"/>
                </a:cubicBezTo>
                <a:cubicBezTo>
                  <a:pt x="264670" y="150813"/>
                  <a:pt x="254000" y="140142"/>
                  <a:pt x="254000" y="127000"/>
                </a:cubicBezTo>
                <a:cubicBezTo>
                  <a:pt x="254000" y="113858"/>
                  <a:pt x="264670" y="103188"/>
                  <a:pt x="277813" y="103188"/>
                </a:cubicBezTo>
                <a:close/>
                <a:moveTo>
                  <a:pt x="333375" y="127000"/>
                </a:moveTo>
                <a:cubicBezTo>
                  <a:pt x="333375" y="113858"/>
                  <a:pt x="344045" y="103188"/>
                  <a:pt x="357188" y="103188"/>
                </a:cubicBezTo>
                <a:cubicBezTo>
                  <a:pt x="370330" y="103188"/>
                  <a:pt x="381000" y="113858"/>
                  <a:pt x="381000" y="127000"/>
                </a:cubicBezTo>
                <a:cubicBezTo>
                  <a:pt x="381000" y="140142"/>
                  <a:pt x="370330" y="150813"/>
                  <a:pt x="357188" y="150813"/>
                </a:cubicBezTo>
                <a:cubicBezTo>
                  <a:pt x="344045" y="150813"/>
                  <a:pt x="333375" y="140142"/>
                  <a:pt x="333375" y="127000"/>
                </a:cubicBezTo>
                <a:close/>
                <a:moveTo>
                  <a:pt x="63500" y="285750"/>
                </a:moveTo>
                <a:cubicBezTo>
                  <a:pt x="28476" y="285750"/>
                  <a:pt x="0" y="314226"/>
                  <a:pt x="0" y="349250"/>
                </a:cubicBez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381000" y="476250"/>
                </a:lnTo>
                <a:cubicBezTo>
                  <a:pt x="416024" y="476250"/>
                  <a:pt x="444500" y="447774"/>
                  <a:pt x="444500" y="412750"/>
                </a:cubicBezTo>
                <a:lnTo>
                  <a:pt x="444500" y="349250"/>
                </a:lnTo>
                <a:cubicBezTo>
                  <a:pt x="444500" y="314226"/>
                  <a:pt x="416024" y="285750"/>
                  <a:pt x="381000" y="285750"/>
                </a:cubicBezTo>
                <a:lnTo>
                  <a:pt x="63500" y="285750"/>
                </a:lnTo>
                <a:close/>
                <a:moveTo>
                  <a:pt x="277813" y="357188"/>
                </a:moveTo>
                <a:cubicBezTo>
                  <a:pt x="290955" y="357188"/>
                  <a:pt x="301625" y="367858"/>
                  <a:pt x="301625" y="381000"/>
                </a:cubicBezTo>
                <a:cubicBezTo>
                  <a:pt x="301625" y="394142"/>
                  <a:pt x="290955" y="404813"/>
                  <a:pt x="277813" y="404813"/>
                </a:cubicBezTo>
                <a:cubicBezTo>
                  <a:pt x="264670" y="404813"/>
                  <a:pt x="254000" y="394142"/>
                  <a:pt x="254000" y="381000"/>
                </a:cubicBezTo>
                <a:cubicBezTo>
                  <a:pt x="254000" y="367858"/>
                  <a:pt x="264670" y="357188"/>
                  <a:pt x="277813" y="357188"/>
                </a:cubicBezTo>
                <a:close/>
                <a:moveTo>
                  <a:pt x="333375" y="381000"/>
                </a:moveTo>
                <a:cubicBezTo>
                  <a:pt x="333375" y="367858"/>
                  <a:pt x="344045" y="357188"/>
                  <a:pt x="357188" y="357188"/>
                </a:cubicBezTo>
                <a:cubicBezTo>
                  <a:pt x="370330" y="357188"/>
                  <a:pt x="381000" y="367858"/>
                  <a:pt x="381000" y="381000"/>
                </a:cubicBezTo>
                <a:cubicBezTo>
                  <a:pt x="381000" y="394142"/>
                  <a:pt x="370330" y="404813"/>
                  <a:pt x="357188" y="404813"/>
                </a:cubicBezTo>
                <a:cubicBezTo>
                  <a:pt x="344045" y="404813"/>
                  <a:pt x="333375" y="394142"/>
                  <a:pt x="333375" y="381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97500" y="31496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7500" y="3530600"/>
            <a:ext cx="292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REST API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Preprocessing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Inference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 Response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763000" y="3111500"/>
            <a:ext cx="635000" cy="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8763000" y="4127500"/>
            <a:ext cx="635000" cy="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9652000" y="2222500"/>
            <a:ext cx="2540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B5E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9000" y="2286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Jaundice Model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MobileNetV2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90.62% accuracy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52000" y="3492500"/>
            <a:ext cx="2540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75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79000" y="3556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C75B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Face/Skin Model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EfficientNetB0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72.15% accuracy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52000" y="4699000"/>
            <a:ext cx="2540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B5E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79000" y="4762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Nail Model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MobileNetV2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85.71% accuracy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446000" y="3492500"/>
            <a:ext cx="635000" cy="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3208000" y="2349500"/>
            <a:ext cx="2286000" cy="2540000"/>
          </a:xfrm>
          <a:prstGeom prst="roundRect">
            <a:avLst>
              <a:gd name="adj" fmla="val 6000"/>
            </a:avLst>
          </a:prstGeom>
          <a:solidFill>
            <a:srgbClr val="EAEAE4"/>
          </a:solidFill>
          <a:ln/>
        </p:spPr>
      </p:sp>
      <p:sp>
        <p:nvSpPr>
          <p:cNvPr id="32" name="Shape 30"/>
          <p:cNvSpPr/>
          <p:nvPr/>
        </p:nvSpPr>
        <p:spPr>
          <a:xfrm>
            <a:off x="14033500" y="2540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0" y="63500"/>
                </a:moveTo>
                <a:cubicBezTo>
                  <a:pt x="0" y="28476"/>
                  <a:pt x="28476" y="0"/>
                  <a:pt x="63500" y="0"/>
                </a:cubicBezTo>
                <a:lnTo>
                  <a:pt x="211832" y="0"/>
                </a:lnTo>
                <a:cubicBezTo>
                  <a:pt x="228699" y="0"/>
                  <a:pt x="244872" y="6648"/>
                  <a:pt x="256778" y="18554"/>
                </a:cubicBezTo>
                <a:lnTo>
                  <a:pt x="362446" y="124321"/>
                </a:lnTo>
                <a:cubicBezTo>
                  <a:pt x="374352" y="136227"/>
                  <a:pt x="381000" y="152400"/>
                  <a:pt x="381000" y="169267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63500"/>
                </a:lnTo>
                <a:close/>
                <a:moveTo>
                  <a:pt x="206375" y="58043"/>
                </a:moveTo>
                <a:lnTo>
                  <a:pt x="206375" y="150813"/>
                </a:lnTo>
                <a:cubicBezTo>
                  <a:pt x="206375" y="164009"/>
                  <a:pt x="216991" y="174625"/>
                  <a:pt x="230188" y="174625"/>
                </a:cubicBezTo>
                <a:lnTo>
                  <a:pt x="322957" y="174625"/>
                </a:lnTo>
                <a:lnTo>
                  <a:pt x="206375" y="58043"/>
                </a:lnTo>
                <a:close/>
                <a:moveTo>
                  <a:pt x="158750" y="277813"/>
                </a:moveTo>
                <a:lnTo>
                  <a:pt x="158750" y="317500"/>
                </a:lnTo>
                <a:lnTo>
                  <a:pt x="119063" y="317500"/>
                </a:lnTo>
                <a:cubicBezTo>
                  <a:pt x="110331" y="317500"/>
                  <a:pt x="103188" y="324644"/>
                  <a:pt x="103188" y="333375"/>
                </a:cubicBezTo>
                <a:lnTo>
                  <a:pt x="103188" y="365125"/>
                </a:lnTo>
                <a:cubicBezTo>
                  <a:pt x="103188" y="373856"/>
                  <a:pt x="110331" y="381000"/>
                  <a:pt x="119063" y="381000"/>
                </a:cubicBezTo>
                <a:lnTo>
                  <a:pt x="158750" y="381000"/>
                </a:lnTo>
                <a:lnTo>
                  <a:pt x="158750" y="420688"/>
                </a:lnTo>
                <a:cubicBezTo>
                  <a:pt x="158750" y="429419"/>
                  <a:pt x="165894" y="436563"/>
                  <a:pt x="174625" y="436563"/>
                </a:cubicBezTo>
                <a:lnTo>
                  <a:pt x="206375" y="436563"/>
                </a:lnTo>
                <a:cubicBezTo>
                  <a:pt x="215106" y="436563"/>
                  <a:pt x="222250" y="429419"/>
                  <a:pt x="222250" y="420688"/>
                </a:cubicBezTo>
                <a:lnTo>
                  <a:pt x="222250" y="381000"/>
                </a:lnTo>
                <a:lnTo>
                  <a:pt x="261937" y="381000"/>
                </a:lnTo>
                <a:cubicBezTo>
                  <a:pt x="270669" y="381000"/>
                  <a:pt x="277813" y="373856"/>
                  <a:pt x="277813" y="365125"/>
                </a:cubicBezTo>
                <a:lnTo>
                  <a:pt x="277813" y="333375"/>
                </a:lnTo>
                <a:cubicBezTo>
                  <a:pt x="277813" y="324644"/>
                  <a:pt x="270669" y="317500"/>
                  <a:pt x="261937" y="317500"/>
                </a:cubicBezTo>
                <a:lnTo>
                  <a:pt x="222250" y="317500"/>
                </a:lnTo>
                <a:lnTo>
                  <a:pt x="222250" y="277813"/>
                </a:lnTo>
                <a:cubicBezTo>
                  <a:pt x="222250" y="269081"/>
                  <a:pt x="215106" y="261937"/>
                  <a:pt x="206375" y="261937"/>
                </a:cubicBezTo>
                <a:lnTo>
                  <a:pt x="174625" y="261937"/>
                </a:lnTo>
                <a:cubicBezTo>
                  <a:pt x="165894" y="261937"/>
                  <a:pt x="158750" y="269081"/>
                  <a:pt x="158750" y="277813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33" name="Text 31"/>
          <p:cNvSpPr/>
          <p:nvPr/>
        </p:nvSpPr>
        <p:spPr>
          <a:xfrm>
            <a:off x="13398500" y="3149600"/>
            <a:ext cx="190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398500" y="3530600"/>
            <a:ext cx="190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 Score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Disease Info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Assistant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5905500"/>
            <a:ext cx="14732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upload and live camera capture with WebRTC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guide overlay for precise image capture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Privacy-first: all processing on-server, no data stored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Health Assistant for post-screening guidance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Hospital finder and appointment booking support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8458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8000" y="419100"/>
            <a:ext cx="27178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Detection Modules &amp; Dataset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81100"/>
            <a:ext cx="762000" cy="25400"/>
          </a:xfrm>
          <a:prstGeom prst="rect">
            <a:avLst/>
          </a:prstGeom>
          <a:solidFill>
            <a:srgbClr val="1B5E5E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3302000"/>
        </p:xfrm>
        <a:graphic>
          <a:graphicData uri="http://schemas.openxmlformats.org/drawingml/2006/table">
            <a:tbl>
              <a:tblPr/>
              <a:tblGrid>
                <a:gridCol w="2651760"/>
                <a:gridCol w="3241040"/>
                <a:gridCol w="2946400"/>
                <a:gridCol w="2946400"/>
                <a:gridCol w="2946400"/>
              </a:tblGrid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Module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Architecture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Task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Input Size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 Accuracy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Eye / Jaundice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MobileNetV2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Binary (Jaundice/Normal)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224 x 224 RGB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75B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90.62%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Face / Skin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EfficientNetB0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5-Class (Acne, Eczema, Herpes, Panu, Rosacea)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224 x 224 RGB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75B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72.15%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Nail Disease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MobileNetV2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3-Class (Healthy, Onychomycosis, Psoriasis)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224 x 224 RGB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75B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85.71%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508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Summary</a:t>
            </a:r>
            <a:endParaRPr lang="en-US" sz="1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588000"/>
          <a:ext cx="14732000" cy="2286000"/>
        </p:xfrm>
        <a:graphic>
          <a:graphicData uri="http://schemas.openxmlformats.org/drawingml/2006/table">
            <a:tbl>
              <a:tblPr/>
              <a:tblGrid>
                <a:gridCol w="3683000"/>
                <a:gridCol w="2209800"/>
                <a:gridCol w="2209800"/>
                <a:gridCol w="2209800"/>
                <a:gridCol w="2209800"/>
                <a:gridCol w="2209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Dataset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Train Images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 Images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Split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Preprocessing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Jaundice Eye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80/20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Rescale /255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Face Skin Disease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1,196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298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80/20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EfficientNet preprocess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Nail Disease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933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80/20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Rescale /255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 / 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8458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8000" y="419100"/>
            <a:ext cx="27178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 &amp; Technology Stack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81100"/>
            <a:ext cx="762000" cy="254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Two-Stage Transfer Learning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1968500"/>
            <a:ext cx="7112000" cy="12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0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500" y="2095500"/>
            <a:ext cx="1016000" cy="3302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20955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 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2500" y="2476500"/>
            <a:ext cx="673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Extraction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Base frozen, train custom head only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epochs | LR 1e-3 | Adam | Batch 16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429000"/>
            <a:ext cx="7112000" cy="12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0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500" y="3556000"/>
            <a:ext cx="1016000" cy="330200"/>
          </a:xfrm>
          <a:prstGeom prst="roundRect">
            <a:avLst>
              <a:gd name="adj" fmla="val 8000"/>
            </a:avLst>
          </a:prstGeom>
          <a:solidFill>
            <a:srgbClr val="C75B2A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35560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 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2500" y="3937000"/>
            <a:ext cx="673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Unfreeze top 40 base layers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epochs | LR 1e-5 | EarlyStopping | ReduceLROnPlateau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016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Preprocessing Pipeline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54610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Bilateral Denoising (d=5, sigma=50)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CLAHE on L channel (clipLimit=2.0, tileGrid=8x8)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Module-specific processing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Eye: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Haar Cascade -&gt; Crop + 35% pad -&gt; Normalize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Resize -&gt; EfficientNet preprocess_input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Nail: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BGR-&gt;RGB -&gt; Resize -&gt; Normalize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968500"/>
          <a:ext cx="7112000" cy="2476500"/>
        </p:xfrm>
        <a:graphic>
          <a:graphicData uri="http://schemas.openxmlformats.org/drawingml/2006/table">
            <a:tbl>
              <a:tblPr/>
              <a:tblGrid>
                <a:gridCol w="2489200"/>
                <a:gridCol w="1422400"/>
                <a:gridCol w="3200400"/>
              </a:tblGrid>
              <a:tr h="49277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Technology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</a:tr>
              <a:tr h="49277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Python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3.11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Primary language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49277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TensorFlow/Keras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2.16.2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Deep learning framework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</a:tr>
              <a:tr h="49277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Flask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Latest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Web framework &amp; REST API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5054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OpenCV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Latest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Computer vision &amp; preprocessing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4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8382000" y="4699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382000" y="5143500"/>
            <a:ext cx="711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HTML5 / CSS3 / JavaScript (ES6+)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 getUserMedia for camera access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Canvas API for ROI guide overlay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AJAX/Fetch API for backend communication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 / 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>
                    <a:alpha val="18824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1016000" y="3810000"/>
            <a:ext cx="12700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064000"/>
            <a:ext cx="698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&amp; Discussion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8895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Performance &amp; Testing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335000" y="0"/>
            <a:ext cx="2921000" cy="9144000"/>
          </a:xfrm>
          <a:prstGeom prst="rect">
            <a:avLst/>
          </a:prstGeom>
          <a:solidFill>
            <a:srgbClr val="FFFFFF">
              <a:alpha val="3137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8458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845800" y="419100"/>
            <a:ext cx="27051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&amp; Testing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81100"/>
            <a:ext cx="762000" cy="25400"/>
          </a:xfrm>
          <a:prstGeom prst="rect">
            <a:avLst/>
          </a:prstGeom>
          <a:solidFill>
            <a:srgbClr val="1B5E5E"/>
          </a:solidFill>
          <a:ln/>
        </p:spPr>
      </p:sp>
      <p:graphicFrame>
        <p:nvGraphicFramePr>
          <p:cNvPr id="12" name="Chart 0" descr=""/>
          <p:cNvGraphicFramePr/>
          <p:nvPr/>
        </p:nvGraphicFramePr>
        <p:xfrm>
          <a:off x="762000" y="1460500"/>
          <a:ext cx="7112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838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Summary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82000" y="1968500"/>
            <a:ext cx="711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Tests: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8/8 PASSED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 image upload, error handling, corrupted files, camera capture, invalid extensions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Tests: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8/8 PASSED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Frontend-Backend API, full pipeline, camera flow, model loading, disease info retrieval, AI report, hospital finder, cloud stability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5397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Advantages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2000" y="58420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Multi-disease unified platform (unique in academic space)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Non-invasive screening without blood tests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Privacy-first: on-server processing, no data stored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Health Assistant with hospital finder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82000" y="5397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75B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82000" y="58420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a substitute for professional clinical diagnosis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datasets are relatively small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model accuracy limited by visual similarity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internet connection for cloud access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 / 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>
                    <a:alpha val="18824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1016000" y="3810000"/>
            <a:ext cx="12700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064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 &amp; Future 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8895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&amp; Roadmap Ahead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335000" y="0"/>
            <a:ext cx="2921000" cy="9144000"/>
          </a:xfrm>
          <a:prstGeom prst="rect">
            <a:avLst/>
          </a:prstGeom>
          <a:solidFill>
            <a:srgbClr val="FFFFFF">
              <a:alpha val="3137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4F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051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2717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8458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50900" y="0"/>
            <a:ext cx="27051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550900" y="419100"/>
            <a:ext cx="27051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81100"/>
            <a:ext cx="762000" cy="254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19050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HealthVision AI successfully demonstrates the practical application of Deep Learning and Computer Vision in healthcare screening.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achievements: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detection modules with 72-91% accuracy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image preprocessing pipeline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web interface with camera support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Health Assistant for post-screening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cloud deployment on Render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75B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19050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disease classes (melanoma, cataracts, glaucoma)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Larger and more diverse datasets across populations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video analysis for live detection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mobile apps with TensorFlow Lite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history tracking and longitudinal reports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Multi-language support (Hindi, Maithili, Bhojpuri)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AI with Grad-CAM visualizations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Telemedicine and EHR integration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588000"/>
            <a:ext cx="14732000" cy="381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5905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While not intended to replace professional diagnosis, HealthVision AI serves as a valuable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preliminary screening tool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can encourage early health awareness and timely medical consultations in underserved communities.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 / 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32000"/>
            <a:ext cx="1625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858000" y="3238500"/>
            <a:ext cx="2540000" cy="38100"/>
          </a:xfrm>
          <a:prstGeom prst="rect">
            <a:avLst/>
          </a:prstGeom>
          <a:solidFill>
            <a:srgbClr val="C75B2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492500"/>
            <a:ext cx="162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0" y="4445000"/>
            <a:ext cx="1016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Members:</a:t>
            </a:r>
            <a:endParaRPr lang="en-US" sz="1600" dirty="0"/>
          </a:p>
          <a:p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Gaurav Kumar (23151144901) | Nitesh Kumar (22151144040)</a:t>
            </a:r>
            <a:endParaRPr lang="en-US" sz="1600" dirty="0"/>
          </a:p>
          <a:p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Rupesh Kumar (22151144010) | Indrajeet Kumar (23151144906)</a:t>
            </a:r>
            <a:endParaRPr lang="en-US" sz="1600" dirty="0"/>
          </a:p>
          <a:p>
            <a:pPr algn="ctr"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Supervisor:</a:t>
            </a:r>
            <a:pPr algn="ctr"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Dr. Saurabh Suman</a:t>
            </a:r>
            <a:endParaRPr lang="en-US" sz="1600" dirty="0"/>
          </a:p>
          <a:p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of CSE (AI), Government Engineering College, Munger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18000" y="6921500"/>
            <a:ext cx="7620000" cy="508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692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u="sng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</a:t>
            </a:r>
            <a:pPr algn="ctr">
              <a:lnSpc>
                <a:spcPct val="100000"/>
              </a:lnSpc>
            </a:pPr>
            <a:r>
              <a:rPr lang="en-US" sz="1400" u="sng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C75B2A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HealthVision AI: An AI-Powered Multi-Disease Health Detection System</dc:title>
  <dc:subject>HealthVision AI: An AI-Powered Multi-Disease Health Detection System</dc:subject>
  <dc:creator>Kimi</dc:creator>
  <cp:lastModifiedBy>Kimi</cp:lastModifiedBy>
  <cp:revision>1</cp:revision>
  <dcterms:created xsi:type="dcterms:W3CDTF">2026-05-30T16:58:35Z</dcterms:created>
  <dcterms:modified xsi:type="dcterms:W3CDTF">2026-05-30T16:58:35Z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{"Label":"HealthVision AI: An AI-Powered Multi-Disease Health Detection System","ContentProducer":"001191110108MACG2KBH8F10000","ProduceID":"19e79c9d-b702-88d2-8000-0000c7bd53b7","ReservedCode1":"","ContentPropagator":"001191110108MACG2KBH8F20000","PropagateID":"19e79c9d-b702-88d2-8000-0000c7bd53b7","ReservedCode2":""}</vt:lpwstr>
  </property>
</Properties>
</file>